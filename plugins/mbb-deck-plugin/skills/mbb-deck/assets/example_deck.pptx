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057400"/>
            <a:ext cx="10362895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600" b="1">
                <a:solidFill>
                  <a:srgbClr val="003A70"/>
                </a:solidFill>
                <a:latin typeface="Calibri"/>
              </a:rPr>
              <a:t>Acme 2026 Growth Strategy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971800"/>
            <a:ext cx="1036289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0">
                <a:solidFill>
                  <a:srgbClr val="333333"/>
                </a:solidFill>
                <a:latin typeface="Calibri"/>
              </a:rPr>
              <a:t>Recommendation to the Board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069080"/>
            <a:ext cx="1036289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999999"/>
                </a:solidFill>
                <a:latin typeface="Calibri"/>
              </a:rPr>
              <a:t>April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343400"/>
            <a:ext cx="1036289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999999"/>
                </a:solidFill>
                <a:latin typeface="Calibri"/>
              </a:rPr>
              <a:t>Prepared for: Acme Board of Directors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617720"/>
            <a:ext cx="1036289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999999"/>
                </a:solidFill>
                <a:latin typeface="Calibri"/>
              </a:rPr>
              <a:t>Prepared by: Strategy Team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>
                <a:solidFill>
                  <a:srgbClr val="003A70"/>
                </a:solidFill>
                <a:latin typeface="Calibri"/>
              </a:rPr>
              <a:t>Acme should move upmarket to enterprise HR in 2026, funded by sunsetting SMB — adding an estimated $40M ARR over 24 months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4572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>
                <a:solidFill>
                  <a:srgbClr val="003A70"/>
                </a:solidFill>
                <a:latin typeface="Calibri"/>
              </a:rP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1371600"/>
            <a:ext cx="10728655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333333"/>
                </a:solidFill>
                <a:latin typeface="Calibri"/>
              </a:rPr>
              <a:t>Growth has stalled at 3% for two years while three competitors have grown 25%+ by moving upmarket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011680"/>
            <a:ext cx="4572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>
                <a:solidFill>
                  <a:srgbClr val="003A70"/>
                </a:solidFill>
                <a:latin typeface="Calibri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011680"/>
            <a:ext cx="10728655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333333"/>
                </a:solidFill>
                <a:latin typeface="Calibri"/>
              </a:rPr>
              <a:t>The enterprise segment is $4.2B and growing 18% — three times our current addressable market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651760"/>
            <a:ext cx="4572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>
                <a:solidFill>
                  <a:srgbClr val="003A70"/>
                </a:solidFill>
                <a:latin typeface="Calibri"/>
              </a:rP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651760"/>
            <a:ext cx="10728655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333333"/>
                </a:solidFill>
                <a:latin typeface="Calibri"/>
              </a:rPr>
              <a:t>Two of our top-30 customers already use Acme above 500 employees and would expand within 12 months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291839"/>
            <a:ext cx="4572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>
                <a:solidFill>
                  <a:srgbClr val="003A70"/>
                </a:solidFill>
                <a:latin typeface="Calibri"/>
              </a:rPr>
              <a:t>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3291839"/>
            <a:ext cx="10728655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333333"/>
                </a:solidFill>
                <a:latin typeface="Calibri"/>
              </a:rPr>
              <a:t>The product gap to enterprise-ready is six features, deliverable in three quarters with current capacity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931920"/>
            <a:ext cx="4572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>
                <a:solidFill>
                  <a:srgbClr val="003A70"/>
                </a:solidFill>
                <a:latin typeface="Calibri"/>
              </a:rPr>
              <a:t>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3931920"/>
            <a:ext cx="10728655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333333"/>
                </a:solidFill>
                <a:latin typeface="Calibri"/>
              </a:rPr>
              <a:t>The SMB tier costs $14M annually to serve and is contribution-margin negative in 60% of accounts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00800"/>
            <a:ext cx="1036289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88888"/>
                </a:solidFill>
                <a:latin typeface="Calibri"/>
              </a:rPr>
              <a:t>Source: Strategy team analysis; Acme financials FY24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820095" y="640080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888888"/>
                </a:solidFill>
                <a:latin typeface="Calibri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400800"/>
            <a:ext cx="1127729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00" b="0">
                <a:solidFill>
                  <a:srgbClr val="888888"/>
                </a:solidFill>
                <a:latin typeface="Calibri"/>
              </a:rPr>
              <a:t>Confidential — Acme internal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>
                <a:solidFill>
                  <a:srgbClr val="003A70"/>
                </a:solidFill>
                <a:latin typeface="Calibri"/>
              </a:rPr>
              <a:t>Growth has stalled at 3% for two years while three competitors have grown 25%+ by moving upmarket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127729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600">
                <a:solidFill>
                  <a:srgbClr val="333333"/>
                </a:solidFill>
                <a:latin typeface="Calibri"/>
              </a:rPr>
              <a:t>•  Acme ARR has grown 3.1% in FY23 and 3.4% in FY24, versus a five-year average of 14%</a:t>
            </a:r>
          </a:p>
          <a:p>
            <a:pPr algn="l">
              <a:spcAft>
                <a:spcPts val="800"/>
              </a:spcAft>
            </a:pPr>
            <a:r>
              <a:rPr sz="1600">
                <a:solidFill>
                  <a:srgbClr val="333333"/>
                </a:solidFill>
                <a:latin typeface="Calibri"/>
              </a:rPr>
              <a:t>•  Three named competitors have each crossed $300M ARR by adding enterprise tiers since 2023</a:t>
            </a:r>
          </a:p>
          <a:p>
            <a:pPr algn="l">
              <a:spcAft>
                <a:spcPts val="800"/>
              </a:spcAft>
            </a:pPr>
            <a:r>
              <a:rPr sz="1600">
                <a:solidFill>
                  <a:srgbClr val="333333"/>
                </a:solidFill>
                <a:latin typeface="Calibri"/>
              </a:rPr>
              <a:t>•  Net revenue retention has fallen from 118% to 102% over the same period</a:t>
            </a:r>
          </a:p>
          <a:p>
            <a:pPr algn="l">
              <a:spcAft>
                <a:spcPts val="800"/>
              </a:spcAft>
            </a:pPr>
            <a:r>
              <a:rPr sz="1600">
                <a:solidFill>
                  <a:srgbClr val="333333"/>
                </a:solidFill>
                <a:latin typeface="Calibri"/>
              </a:rPr>
              <a:t>•  Customer count has grown, but average contract value has compressed by 11%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0"/>
            <a:ext cx="1036289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88888"/>
                </a:solidFill>
                <a:latin typeface="Calibri"/>
              </a:rPr>
              <a:t>Source: Acme financials FY23–FY24; competitor 10-K filings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20095" y="640080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888888"/>
                </a:solidFill>
                <a:latin typeface="Calibri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1127729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00" b="0">
                <a:solidFill>
                  <a:srgbClr val="888888"/>
                </a:solidFill>
                <a:latin typeface="Calibri"/>
              </a:rPr>
              <a:t>Confidential — Acme internal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>
                <a:solidFill>
                  <a:srgbClr val="003A70"/>
                </a:solidFill>
                <a:latin typeface="Calibri"/>
              </a:rPr>
              <a:t>Three of our five product lines fall in the low-growth, low-margin quadrant</a:t>
            </a:r>
          </a:p>
        </p:txBody>
      </p:sp>
      <p:sp>
        <p:nvSpPr>
          <p:cNvPr id="3" name="Rectangle 2"/>
          <p:cNvSpPr/>
          <p:nvPr/>
        </p:nvSpPr>
        <p:spPr>
          <a:xfrm>
            <a:off x="1554480" y="1371600"/>
            <a:ext cx="9905695" cy="4114800"/>
          </a:xfrm>
          <a:prstGeom prst="rect">
            <a:avLst/>
          </a:prstGeom>
          <a:noFill/>
          <a:ln w="9525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" name="Connector 3"/>
          <p:cNvCxnSpPr/>
          <p:nvPr/>
        </p:nvCxnSpPr>
        <p:spPr>
          <a:xfrm>
            <a:off x="6507327" y="1371600"/>
            <a:ext cx="0" cy="4114800"/>
          </a:xfrm>
          <a:prstGeom prst="line">
            <a:avLst/>
          </a:prstGeom>
          <a:ln w="6350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1554480" y="3429000"/>
            <a:ext cx="9905695" cy="0"/>
          </a:xfrm>
          <a:prstGeom prst="line">
            <a:avLst/>
          </a:prstGeom>
          <a:ln w="6350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554480" y="5715000"/>
            <a:ext cx="990569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555555"/>
                </a:solidFill>
                <a:latin typeface="Calibri"/>
              </a:rPr>
              <a:t>Market growth rate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54480" y="5532120"/>
            <a:ext cx="4952847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88888"/>
                </a:solidFill>
                <a:latin typeface="Calibri"/>
              </a:rPr>
              <a:t>Low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07327" y="5532120"/>
            <a:ext cx="4952847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888888"/>
                </a:solidFill>
                <a:latin typeface="Calibri"/>
              </a:rPr>
              <a:t>High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246120"/>
            <a:ext cx="1005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>
                <a:solidFill>
                  <a:srgbClr val="555555"/>
                </a:solidFill>
                <a:latin typeface="Calibri"/>
              </a:rPr>
              <a:t>Acme contribution margin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5257800"/>
            <a:ext cx="10515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888888"/>
                </a:solidFill>
                <a:latin typeface="Calibri"/>
              </a:rPr>
              <a:t>Low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1371600"/>
            <a:ext cx="10515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888888"/>
                </a:solidFill>
                <a:latin typeface="Calibri"/>
              </a:rPr>
              <a:t>High</a:t>
            </a:r>
          </a:p>
        </p:txBody>
      </p:sp>
      <p:sp>
        <p:nvSpPr>
          <p:cNvPr id="12" name="Oval 11"/>
          <p:cNvSpPr/>
          <p:nvPr/>
        </p:nvSpPr>
        <p:spPr>
          <a:xfrm>
            <a:off x="4434748" y="2514600"/>
            <a:ext cx="182880" cy="182880"/>
          </a:xfrm>
          <a:prstGeom prst="ellipse">
            <a:avLst/>
          </a:prstGeom>
          <a:solidFill>
            <a:srgbClr val="99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63348" y="2468880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999999"/>
                </a:solidFill>
                <a:latin typeface="Calibri"/>
              </a:rPr>
              <a:t>Core HR</a:t>
            </a:r>
          </a:p>
        </p:txBody>
      </p:sp>
      <p:sp>
        <p:nvSpPr>
          <p:cNvPr id="14" name="Oval 13"/>
          <p:cNvSpPr/>
          <p:nvPr/>
        </p:nvSpPr>
        <p:spPr>
          <a:xfrm>
            <a:off x="3939463" y="3749039"/>
            <a:ext cx="182880" cy="182880"/>
          </a:xfrm>
          <a:prstGeom prst="ellipse">
            <a:avLst/>
          </a:prstGeom>
          <a:solidFill>
            <a:srgbClr val="99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168063" y="3703319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999999"/>
                </a:solidFill>
                <a:latin typeface="Calibri"/>
              </a:rPr>
              <a:t>Payroll</a:t>
            </a:r>
          </a:p>
        </p:txBody>
      </p:sp>
      <p:sp>
        <p:nvSpPr>
          <p:cNvPr id="16" name="Oval 15"/>
          <p:cNvSpPr/>
          <p:nvPr/>
        </p:nvSpPr>
        <p:spPr>
          <a:xfrm>
            <a:off x="3444179" y="4160520"/>
            <a:ext cx="182880" cy="182880"/>
          </a:xfrm>
          <a:prstGeom prst="ellipse">
            <a:avLst/>
          </a:prstGeom>
          <a:solidFill>
            <a:srgbClr val="99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72779" y="4114800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999999"/>
                </a:solidFill>
                <a:latin typeface="Calibri"/>
              </a:rPr>
              <a:t>Benefits</a:t>
            </a:r>
          </a:p>
        </p:txBody>
      </p:sp>
      <p:sp>
        <p:nvSpPr>
          <p:cNvPr id="18" name="Oval 17"/>
          <p:cNvSpPr/>
          <p:nvPr/>
        </p:nvSpPr>
        <p:spPr>
          <a:xfrm>
            <a:off x="8397026" y="2926079"/>
            <a:ext cx="182880" cy="182880"/>
          </a:xfrm>
          <a:prstGeom prst="ellipse">
            <a:avLst/>
          </a:prstGeom>
          <a:solidFill>
            <a:srgbClr val="003A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25626" y="2880360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003A70"/>
                </a:solidFill>
                <a:latin typeface="Calibri"/>
              </a:rPr>
              <a:t>Talent</a:t>
            </a:r>
          </a:p>
        </p:txBody>
      </p:sp>
      <p:sp>
        <p:nvSpPr>
          <p:cNvPr id="20" name="Oval 19"/>
          <p:cNvSpPr/>
          <p:nvPr/>
        </p:nvSpPr>
        <p:spPr>
          <a:xfrm>
            <a:off x="9882880" y="3131820"/>
            <a:ext cx="182880" cy="182880"/>
          </a:xfrm>
          <a:prstGeom prst="ellipse">
            <a:avLst/>
          </a:prstGeom>
          <a:solidFill>
            <a:srgbClr val="003A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111480" y="3086100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003A70"/>
                </a:solidFill>
                <a:latin typeface="Calibri"/>
              </a:rPr>
              <a:t>Performance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6400800"/>
            <a:ext cx="1036289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88888"/>
                </a:solidFill>
                <a:latin typeface="Calibri"/>
              </a:rPr>
              <a:t>Source: Acme product P&amp;L FY24; market growth from Gartner 2024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820095" y="640080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888888"/>
                </a:solidFill>
                <a:latin typeface="Calibri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6400800"/>
            <a:ext cx="1127729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00" b="0">
                <a:solidFill>
                  <a:srgbClr val="888888"/>
                </a:solidFill>
                <a:latin typeface="Calibri"/>
              </a:rPr>
              <a:t>Confidential — Acme internal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>
                <a:solidFill>
                  <a:srgbClr val="003A70"/>
                </a:solidFill>
                <a:latin typeface="Calibri"/>
              </a:rPr>
              <a:t>We evaluated four growth paths against three criteria; only enterprise expansion meets all three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828800"/>
            <a:ext cx="2682163" cy="3200400"/>
          </a:xfrm>
          <a:prstGeom prst="rect">
            <a:avLst/>
          </a:prstGeom>
          <a:solidFill>
            <a:srgbClr val="DDDDDD"/>
          </a:solidFill>
          <a:ln w="635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1828800"/>
            <a:ext cx="2682163" cy="548640"/>
          </a:xfrm>
          <a:prstGeom prst="rect">
            <a:avLst/>
          </a:prstGeom>
          <a:solidFill>
            <a:srgbClr val="003A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920240"/>
            <a:ext cx="2407843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Enterprise expansion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560320"/>
            <a:ext cx="2316403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  <a:latin typeface="Calibri"/>
              </a:rPr>
              <a:t>Move upmarket to companies with 500+ employees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389120"/>
            <a:ext cx="2316403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003A70"/>
                </a:solidFill>
                <a:latin typeface="Calibri"/>
              </a:rPr>
              <a:t>$40M ARR</a:t>
            </a:r>
          </a:p>
        </p:txBody>
      </p:sp>
      <p:sp>
        <p:nvSpPr>
          <p:cNvPr id="8" name="Rectangle 7"/>
          <p:cNvSpPr/>
          <p:nvPr/>
        </p:nvSpPr>
        <p:spPr>
          <a:xfrm>
            <a:off x="3322243" y="1828800"/>
            <a:ext cx="2682163" cy="3200400"/>
          </a:xfrm>
          <a:prstGeom prst="rect">
            <a:avLst/>
          </a:prstGeom>
          <a:solidFill>
            <a:srgbClr val="DDDDDD"/>
          </a:solidFill>
          <a:ln w="635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322243" y="1828800"/>
            <a:ext cx="2682163" cy="548640"/>
          </a:xfrm>
          <a:prstGeom prst="rect">
            <a:avLst/>
          </a:prstGeom>
          <a:solidFill>
            <a:srgbClr val="003A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59403" y="1920240"/>
            <a:ext cx="2407843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Geographic expansion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05123" y="2560320"/>
            <a:ext cx="2316403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  <a:latin typeface="Calibri"/>
              </a:rPr>
              <a:t>Enter EU and Asia-Pacific markets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05123" y="4389120"/>
            <a:ext cx="2316403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003A70"/>
                </a:solidFill>
                <a:latin typeface="Calibri"/>
              </a:rPr>
              <a:t>$18M ARR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87287" y="1828800"/>
            <a:ext cx="2682163" cy="3200400"/>
          </a:xfrm>
          <a:prstGeom prst="rect">
            <a:avLst/>
          </a:prstGeom>
          <a:solidFill>
            <a:srgbClr val="DDDDDD"/>
          </a:solidFill>
          <a:ln w="635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87287" y="1828800"/>
            <a:ext cx="2682163" cy="548640"/>
          </a:xfrm>
          <a:prstGeom prst="rect">
            <a:avLst/>
          </a:prstGeom>
          <a:solidFill>
            <a:srgbClr val="003A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24447" y="1920240"/>
            <a:ext cx="2407843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Product adjacency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70167" y="2560320"/>
            <a:ext cx="2316403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  <a:latin typeface="Calibri"/>
              </a:rPr>
              <a:t>Add learning management to existing platform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70167" y="4389120"/>
            <a:ext cx="2316403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003A70"/>
                </a:solidFill>
                <a:latin typeface="Calibri"/>
              </a:rPr>
              <a:t>$22M ARR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052331" y="1828800"/>
            <a:ext cx="2682163" cy="3200400"/>
          </a:xfrm>
          <a:prstGeom prst="rect">
            <a:avLst/>
          </a:prstGeom>
          <a:solidFill>
            <a:srgbClr val="DDDDDD"/>
          </a:solidFill>
          <a:ln w="635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052331" y="1828800"/>
            <a:ext cx="2682163" cy="548640"/>
          </a:xfrm>
          <a:prstGeom prst="rect">
            <a:avLst/>
          </a:prstGeom>
          <a:solidFill>
            <a:srgbClr val="003A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89491" y="1920240"/>
            <a:ext cx="2407843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M&amp;A roll-up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35211" y="2560320"/>
            <a:ext cx="2316403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  <a:latin typeface="Calibri"/>
              </a:rPr>
              <a:t>Acquire two niche HR tools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35211" y="4389120"/>
            <a:ext cx="2316403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003A70"/>
                </a:solidFill>
                <a:latin typeface="Calibri"/>
              </a:rPr>
              <a:t>$30M ARR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6400800"/>
            <a:ext cx="1036289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88888"/>
                </a:solidFill>
                <a:latin typeface="Calibri"/>
              </a:rPr>
              <a:t>Source: Strategy team modeling, March 2026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820095" y="640080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888888"/>
                </a:solidFill>
                <a:latin typeface="Calibri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6400800"/>
            <a:ext cx="1127729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00" b="0">
                <a:solidFill>
                  <a:srgbClr val="888888"/>
                </a:solidFill>
                <a:latin typeface="Calibri"/>
              </a:rPr>
              <a:t>Confidential — Acme internal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>
                <a:solidFill>
                  <a:srgbClr val="003A70"/>
                </a:solidFill>
                <a:latin typeface="Calibri"/>
              </a:rPr>
              <a:t>Enterprise expansion is the only option that scores high on market size, fit, and feasibility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645920"/>
            <a:ext cx="3383188" cy="4572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840388" y="1645920"/>
            <a:ext cx="1973526" cy="457200"/>
          </a:xfrm>
          <a:prstGeom prst="rect">
            <a:avLst/>
          </a:prstGeom>
          <a:solidFill>
            <a:srgbClr val="003A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840388" y="1645920"/>
            <a:ext cx="1973526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Enterprise</a:t>
            </a:r>
          </a:p>
        </p:txBody>
      </p:sp>
      <p:sp>
        <p:nvSpPr>
          <p:cNvPr id="6" name="Rectangle 5"/>
          <p:cNvSpPr/>
          <p:nvPr/>
        </p:nvSpPr>
        <p:spPr>
          <a:xfrm>
            <a:off x="5813915" y="1645920"/>
            <a:ext cx="1973526" cy="457200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813915" y="1645920"/>
            <a:ext cx="1973526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Geographic</a:t>
            </a:r>
          </a:p>
        </p:txBody>
      </p:sp>
      <p:sp>
        <p:nvSpPr>
          <p:cNvPr id="8" name="Rectangle 7"/>
          <p:cNvSpPr/>
          <p:nvPr/>
        </p:nvSpPr>
        <p:spPr>
          <a:xfrm>
            <a:off x="7787441" y="1645920"/>
            <a:ext cx="1973526" cy="457200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87441" y="1645920"/>
            <a:ext cx="1973526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Product adjacency</a:t>
            </a:r>
          </a:p>
        </p:txBody>
      </p:sp>
      <p:sp>
        <p:nvSpPr>
          <p:cNvPr id="10" name="Rectangle 9"/>
          <p:cNvSpPr/>
          <p:nvPr/>
        </p:nvSpPr>
        <p:spPr>
          <a:xfrm>
            <a:off x="9760968" y="1645920"/>
            <a:ext cx="1973526" cy="457200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760968" y="1645920"/>
            <a:ext cx="1973526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M&amp;A roll-up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103120"/>
            <a:ext cx="3383188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1">
                <a:solidFill>
                  <a:srgbClr val="333333"/>
                </a:solidFill>
                <a:latin typeface="Calibri"/>
              </a:rPr>
              <a:t>Market size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840388" y="2103120"/>
            <a:ext cx="1973526" cy="457200"/>
          </a:xfrm>
          <a:prstGeom prst="rect">
            <a:avLst/>
          </a:prstGeom>
          <a:solidFill>
            <a:srgbClr val="DDDDDD"/>
          </a:solidFill>
          <a:ln w="3175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840388" y="2103120"/>
            <a:ext cx="1973526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003A70"/>
                </a:solidFill>
                <a:latin typeface="Calibri"/>
              </a:rPr>
              <a:t>High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813915" y="2103120"/>
            <a:ext cx="1973526" cy="457200"/>
          </a:xfrm>
          <a:prstGeom prst="rect">
            <a:avLst/>
          </a:prstGeom>
          <a:solidFill>
            <a:srgbClr val="DDDDDD"/>
          </a:solidFill>
          <a:ln w="3175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813915" y="2103120"/>
            <a:ext cx="1973526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333333"/>
                </a:solidFill>
                <a:latin typeface="Calibri"/>
              </a:rPr>
              <a:t>Medium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87441" y="2103120"/>
            <a:ext cx="1973526" cy="457200"/>
          </a:xfrm>
          <a:prstGeom prst="rect">
            <a:avLst/>
          </a:prstGeom>
          <a:solidFill>
            <a:srgbClr val="DDDDDD"/>
          </a:solidFill>
          <a:ln w="3175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87441" y="2103120"/>
            <a:ext cx="1973526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333333"/>
                </a:solidFill>
                <a:latin typeface="Calibri"/>
              </a:rPr>
              <a:t>Medium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760968" y="2103120"/>
            <a:ext cx="1973526" cy="457200"/>
          </a:xfrm>
          <a:prstGeom prst="rect">
            <a:avLst/>
          </a:prstGeom>
          <a:solidFill>
            <a:srgbClr val="DDDDDD"/>
          </a:solidFill>
          <a:ln w="3175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760968" y="2103120"/>
            <a:ext cx="1973526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333333"/>
                </a:solidFill>
                <a:latin typeface="Calibri"/>
              </a:rPr>
              <a:t>Low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2560320"/>
            <a:ext cx="3383188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1">
                <a:solidFill>
                  <a:srgbClr val="333333"/>
                </a:solidFill>
                <a:latin typeface="Calibri"/>
              </a:rPr>
              <a:t>Strategic fit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840388" y="2560320"/>
            <a:ext cx="1973526" cy="457200"/>
          </a:xfrm>
          <a:prstGeom prst="rect">
            <a:avLst/>
          </a:prstGeom>
          <a:solidFill>
            <a:srgbClr val="F8F8F8"/>
          </a:solidFill>
          <a:ln w="3175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840388" y="2560320"/>
            <a:ext cx="1973526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003A70"/>
                </a:solidFill>
                <a:latin typeface="Calibri"/>
              </a:rPr>
              <a:t>High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813915" y="2560320"/>
            <a:ext cx="1973526" cy="457200"/>
          </a:xfrm>
          <a:prstGeom prst="rect">
            <a:avLst/>
          </a:prstGeom>
          <a:solidFill>
            <a:srgbClr val="F8F8F8"/>
          </a:solidFill>
          <a:ln w="3175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813915" y="2560320"/>
            <a:ext cx="1973526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333333"/>
                </a:solidFill>
                <a:latin typeface="Calibri"/>
              </a:rPr>
              <a:t>Medium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787441" y="2560320"/>
            <a:ext cx="1973526" cy="457200"/>
          </a:xfrm>
          <a:prstGeom prst="rect">
            <a:avLst/>
          </a:prstGeom>
          <a:solidFill>
            <a:srgbClr val="F8F8F8"/>
          </a:solidFill>
          <a:ln w="3175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787441" y="2560320"/>
            <a:ext cx="1973526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333333"/>
                </a:solidFill>
                <a:latin typeface="Calibri"/>
              </a:rPr>
              <a:t>High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760968" y="2560320"/>
            <a:ext cx="1973526" cy="457200"/>
          </a:xfrm>
          <a:prstGeom prst="rect">
            <a:avLst/>
          </a:prstGeom>
          <a:solidFill>
            <a:srgbClr val="F8F8F8"/>
          </a:solidFill>
          <a:ln w="3175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760968" y="2560320"/>
            <a:ext cx="1973526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333333"/>
                </a:solidFill>
                <a:latin typeface="Calibri"/>
              </a:rPr>
              <a:t>Low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3017520"/>
            <a:ext cx="3383188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1">
                <a:solidFill>
                  <a:srgbClr val="333333"/>
                </a:solidFill>
                <a:latin typeface="Calibri"/>
              </a:rPr>
              <a:t>Feasibility (12 months)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840388" y="3017520"/>
            <a:ext cx="1973526" cy="457200"/>
          </a:xfrm>
          <a:prstGeom prst="rect">
            <a:avLst/>
          </a:prstGeom>
          <a:solidFill>
            <a:srgbClr val="DDDDDD"/>
          </a:solidFill>
          <a:ln w="3175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840388" y="3017520"/>
            <a:ext cx="1973526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003A70"/>
                </a:solidFill>
                <a:latin typeface="Calibri"/>
              </a:rPr>
              <a:t>High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813915" y="3017520"/>
            <a:ext cx="1973526" cy="457200"/>
          </a:xfrm>
          <a:prstGeom prst="rect">
            <a:avLst/>
          </a:prstGeom>
          <a:solidFill>
            <a:srgbClr val="DDDDDD"/>
          </a:solidFill>
          <a:ln w="3175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813915" y="3017520"/>
            <a:ext cx="1973526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333333"/>
                </a:solidFill>
                <a:latin typeface="Calibri"/>
              </a:rPr>
              <a:t>Low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787441" y="3017520"/>
            <a:ext cx="1973526" cy="457200"/>
          </a:xfrm>
          <a:prstGeom prst="rect">
            <a:avLst/>
          </a:prstGeom>
          <a:solidFill>
            <a:srgbClr val="DDDDDD"/>
          </a:solidFill>
          <a:ln w="3175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787441" y="3017520"/>
            <a:ext cx="1973526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333333"/>
                </a:solidFill>
                <a:latin typeface="Calibri"/>
              </a:rPr>
              <a:t>Medium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760968" y="3017520"/>
            <a:ext cx="1973526" cy="457200"/>
          </a:xfrm>
          <a:prstGeom prst="rect">
            <a:avLst/>
          </a:prstGeom>
          <a:solidFill>
            <a:srgbClr val="DDDDDD"/>
          </a:solidFill>
          <a:ln w="3175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760968" y="3017520"/>
            <a:ext cx="1973526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333333"/>
                </a:solidFill>
                <a:latin typeface="Calibri"/>
              </a:rPr>
              <a:t>Low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7200" y="3474720"/>
            <a:ext cx="3383188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1">
                <a:solidFill>
                  <a:srgbClr val="333333"/>
                </a:solidFill>
                <a:latin typeface="Calibri"/>
              </a:rPr>
              <a:t>Capital required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840388" y="3474720"/>
            <a:ext cx="1973526" cy="457200"/>
          </a:xfrm>
          <a:prstGeom prst="rect">
            <a:avLst/>
          </a:prstGeom>
          <a:solidFill>
            <a:srgbClr val="F8F8F8"/>
          </a:solidFill>
          <a:ln w="3175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840388" y="3474720"/>
            <a:ext cx="1973526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003A70"/>
                </a:solidFill>
                <a:latin typeface="Calibri"/>
              </a:rPr>
              <a:t>Low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813915" y="3474720"/>
            <a:ext cx="1973526" cy="457200"/>
          </a:xfrm>
          <a:prstGeom prst="rect">
            <a:avLst/>
          </a:prstGeom>
          <a:solidFill>
            <a:srgbClr val="F8F8F8"/>
          </a:solidFill>
          <a:ln w="3175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813915" y="3474720"/>
            <a:ext cx="1973526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333333"/>
                </a:solidFill>
                <a:latin typeface="Calibri"/>
              </a:rPr>
              <a:t>High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787441" y="3474720"/>
            <a:ext cx="1973526" cy="457200"/>
          </a:xfrm>
          <a:prstGeom prst="rect">
            <a:avLst/>
          </a:prstGeom>
          <a:solidFill>
            <a:srgbClr val="F8F8F8"/>
          </a:solidFill>
          <a:ln w="3175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787441" y="3474720"/>
            <a:ext cx="1973526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333333"/>
                </a:solidFill>
                <a:latin typeface="Calibri"/>
              </a:rPr>
              <a:t>Medium</a:t>
            </a:r>
          </a:p>
        </p:txBody>
      </p:sp>
      <p:sp>
        <p:nvSpPr>
          <p:cNvPr id="46" name="Rectangle 45"/>
          <p:cNvSpPr/>
          <p:nvPr/>
        </p:nvSpPr>
        <p:spPr>
          <a:xfrm>
            <a:off x="9760968" y="3474720"/>
            <a:ext cx="1973526" cy="457200"/>
          </a:xfrm>
          <a:prstGeom prst="rect">
            <a:avLst/>
          </a:prstGeom>
          <a:solidFill>
            <a:srgbClr val="F8F8F8"/>
          </a:solidFill>
          <a:ln w="3175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760968" y="3474720"/>
            <a:ext cx="1973526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333333"/>
                </a:solidFill>
                <a:latin typeface="Calibri"/>
              </a:rPr>
              <a:t>Very High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57200" y="3931920"/>
            <a:ext cx="3383188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1">
                <a:solidFill>
                  <a:srgbClr val="333333"/>
                </a:solidFill>
                <a:latin typeface="Calibri"/>
              </a:rPr>
              <a:t>Competitive risk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840388" y="3931920"/>
            <a:ext cx="1973526" cy="457200"/>
          </a:xfrm>
          <a:prstGeom prst="rect">
            <a:avLst/>
          </a:prstGeom>
          <a:solidFill>
            <a:srgbClr val="DDDDDD"/>
          </a:solidFill>
          <a:ln w="3175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3840388" y="3931920"/>
            <a:ext cx="1973526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003A70"/>
                </a:solidFill>
                <a:latin typeface="Calibri"/>
              </a:rPr>
              <a:t>Medium</a:t>
            </a:r>
          </a:p>
        </p:txBody>
      </p:sp>
      <p:sp>
        <p:nvSpPr>
          <p:cNvPr id="51" name="Rectangle 50"/>
          <p:cNvSpPr/>
          <p:nvPr/>
        </p:nvSpPr>
        <p:spPr>
          <a:xfrm>
            <a:off x="5813915" y="3931920"/>
            <a:ext cx="1973526" cy="457200"/>
          </a:xfrm>
          <a:prstGeom prst="rect">
            <a:avLst/>
          </a:prstGeom>
          <a:solidFill>
            <a:srgbClr val="DDDDDD"/>
          </a:solidFill>
          <a:ln w="3175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5813915" y="3931920"/>
            <a:ext cx="1973526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333333"/>
                </a:solidFill>
                <a:latin typeface="Calibri"/>
              </a:rPr>
              <a:t>High</a:t>
            </a:r>
          </a:p>
        </p:txBody>
      </p:sp>
      <p:sp>
        <p:nvSpPr>
          <p:cNvPr id="53" name="Rectangle 52"/>
          <p:cNvSpPr/>
          <p:nvPr/>
        </p:nvSpPr>
        <p:spPr>
          <a:xfrm>
            <a:off x="7787441" y="3931920"/>
            <a:ext cx="1973526" cy="457200"/>
          </a:xfrm>
          <a:prstGeom prst="rect">
            <a:avLst/>
          </a:prstGeom>
          <a:solidFill>
            <a:srgbClr val="DDDDDD"/>
          </a:solidFill>
          <a:ln w="3175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7787441" y="3931920"/>
            <a:ext cx="1973526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333333"/>
                </a:solidFill>
                <a:latin typeface="Calibri"/>
              </a:rPr>
              <a:t>Medium</a:t>
            </a:r>
          </a:p>
        </p:txBody>
      </p:sp>
      <p:sp>
        <p:nvSpPr>
          <p:cNvPr id="55" name="Rectangle 54"/>
          <p:cNvSpPr/>
          <p:nvPr/>
        </p:nvSpPr>
        <p:spPr>
          <a:xfrm>
            <a:off x="9760968" y="3931920"/>
            <a:ext cx="1973526" cy="457200"/>
          </a:xfrm>
          <a:prstGeom prst="rect">
            <a:avLst/>
          </a:prstGeom>
          <a:solidFill>
            <a:srgbClr val="DDDDDD"/>
          </a:solidFill>
          <a:ln w="3175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9760968" y="3931920"/>
            <a:ext cx="1973526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333333"/>
                </a:solidFill>
                <a:latin typeface="Calibri"/>
              </a:rPr>
              <a:t>Medium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3840388" y="1280160"/>
            <a:ext cx="197352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003A70"/>
                </a:solidFill>
                <a:latin typeface="Calibri"/>
              </a:rPr>
              <a:t>▼ RECOMMENDED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57200" y="6400800"/>
            <a:ext cx="1036289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88888"/>
                </a:solidFill>
                <a:latin typeface="Calibri"/>
              </a:rPr>
              <a:t>Source: Strategy team scoring, March 2026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0820095" y="640080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888888"/>
                </a:solidFill>
                <a:latin typeface="Calibri"/>
              </a:rPr>
              <a:t>5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57200" y="6400800"/>
            <a:ext cx="1127729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00" b="0">
                <a:solidFill>
                  <a:srgbClr val="888888"/>
                </a:solidFill>
                <a:latin typeface="Calibri"/>
              </a:rPr>
              <a:t>Confidential — Acme internal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>
                <a:solidFill>
                  <a:srgbClr val="003A70"/>
                </a:solidFill>
                <a:latin typeface="Calibri"/>
              </a:rPr>
              <a:t>The path to enterprise-ready spans four sequential capabilities, deliverable in three quarters</a:t>
            </a:r>
          </a:p>
        </p:txBody>
      </p:sp>
      <p:sp>
        <p:nvSpPr>
          <p:cNvPr id="3" name="Pentagon 2"/>
          <p:cNvSpPr/>
          <p:nvPr/>
        </p:nvSpPr>
        <p:spPr>
          <a:xfrm>
            <a:off x="457200" y="1828800"/>
            <a:ext cx="2750743" cy="914400"/>
          </a:xfrm>
          <a:prstGeom prst="homePlate">
            <a:avLst/>
          </a:prstGeom>
          <a:solidFill>
            <a:srgbClr val="003A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0"/>
            <a:ext cx="2476423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SSO &amp; SCIM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880360"/>
            <a:ext cx="2750743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333333"/>
                </a:solidFill>
                <a:latin typeface="Calibri"/>
              </a:rPr>
              <a:t>Enterprise identity integration</a:t>
            </a:r>
          </a:p>
        </p:txBody>
      </p:sp>
      <p:sp>
        <p:nvSpPr>
          <p:cNvPr id="6" name="Pentagon 5"/>
          <p:cNvSpPr/>
          <p:nvPr/>
        </p:nvSpPr>
        <p:spPr>
          <a:xfrm>
            <a:off x="3299383" y="1828800"/>
            <a:ext cx="2750743" cy="914400"/>
          </a:xfrm>
          <a:prstGeom prst="homePlate">
            <a:avLst/>
          </a:prstGeom>
          <a:solidFill>
            <a:srgbClr val="003A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99383" y="1828800"/>
            <a:ext cx="2476423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Audit logs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99383" y="2880360"/>
            <a:ext cx="2750743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333333"/>
                </a:solidFill>
                <a:latin typeface="Calibri"/>
              </a:rPr>
              <a:t>SOC 2 + customer audit support</a:t>
            </a:r>
          </a:p>
        </p:txBody>
      </p:sp>
      <p:sp>
        <p:nvSpPr>
          <p:cNvPr id="9" name="Pentagon 8"/>
          <p:cNvSpPr/>
          <p:nvPr/>
        </p:nvSpPr>
        <p:spPr>
          <a:xfrm>
            <a:off x="6141567" y="1828800"/>
            <a:ext cx="2750743" cy="914400"/>
          </a:xfrm>
          <a:prstGeom prst="homePlate">
            <a:avLst/>
          </a:prstGeom>
          <a:solidFill>
            <a:srgbClr val="003A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141567" y="1828800"/>
            <a:ext cx="2476423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Multi-entity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41567" y="2880360"/>
            <a:ext cx="2750743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333333"/>
                </a:solidFill>
                <a:latin typeface="Calibri"/>
              </a:rPr>
              <a:t>Subsidiary structures and rollups</a:t>
            </a:r>
          </a:p>
        </p:txBody>
      </p:sp>
      <p:sp>
        <p:nvSpPr>
          <p:cNvPr id="12" name="Pentagon 11"/>
          <p:cNvSpPr/>
          <p:nvPr/>
        </p:nvSpPr>
        <p:spPr>
          <a:xfrm>
            <a:off x="8983751" y="1828800"/>
            <a:ext cx="2750743" cy="914400"/>
          </a:xfrm>
          <a:prstGeom prst="homePlate">
            <a:avLst/>
          </a:prstGeom>
          <a:solidFill>
            <a:srgbClr val="003A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83751" y="1828800"/>
            <a:ext cx="2476423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API platform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83751" y="2880360"/>
            <a:ext cx="2750743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333333"/>
                </a:solidFill>
                <a:latin typeface="Calibri"/>
              </a:rPr>
              <a:t>Public APIs and webhooks at SLA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400800"/>
            <a:ext cx="1036289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88888"/>
                </a:solidFill>
                <a:latin typeface="Calibri"/>
              </a:rPr>
              <a:t>Source: Engineering capacity plan, FY26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820095" y="640080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888888"/>
                </a:solidFill>
                <a:latin typeface="Calibri"/>
              </a:rPr>
              <a:t>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6400800"/>
            <a:ext cx="1127729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00" b="0">
                <a:solidFill>
                  <a:srgbClr val="888888"/>
                </a:solidFill>
                <a:latin typeface="Calibri"/>
              </a:rPr>
              <a:t>Confidential — Acme internal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2057400"/>
            <a:ext cx="9448495" cy="2286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200" b="0">
                <a:solidFill>
                  <a:srgbClr val="333333"/>
                </a:solidFill>
                <a:latin typeface="Calibri"/>
              </a:rPr>
              <a:t>"Acme has the best mid-market HR product we've used. The day they support our European subsidiaries, we'll triple our spend."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4526280"/>
            <a:ext cx="944849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0">
                <a:solidFill>
                  <a:srgbClr val="555555"/>
                </a:solidFill>
                <a:latin typeface="Calibri"/>
              </a:rPr>
              <a:t>— VP People, Top-10 Acme customer (1,200 employees)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0"/>
            <a:ext cx="1036289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88888"/>
                </a:solidFill>
                <a:latin typeface="Calibri"/>
              </a:rPr>
              <a:t>Source: Customer interview, Feb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20095" y="640080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888888"/>
                </a:solidFill>
                <a:latin typeface="Calibri"/>
              </a:rPr>
              <a:t>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1127729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00" b="0">
                <a:solidFill>
                  <a:srgbClr val="888888"/>
                </a:solidFill>
                <a:latin typeface="Calibri"/>
              </a:rPr>
              <a:t>Confidential — Acme internal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>
                <a:solidFill>
                  <a:srgbClr val="003A70"/>
                </a:solidFill>
                <a:latin typeface="Calibri"/>
              </a:rPr>
              <a:t>Combined: enterprise expansion adds $40M ARR by end-2027; sunsetting SMB frees $14M to fund it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645920"/>
            <a:ext cx="11277295" cy="3840480"/>
          </a:xfrm>
          <a:prstGeom prst="rect">
            <a:avLst/>
          </a:prstGeom>
          <a:solidFill>
            <a:srgbClr val="DDDDDD"/>
          </a:solidFill>
          <a:ln w="635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11277295" cy="3840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0">
                <a:solidFill>
                  <a:srgbClr val="999999"/>
                </a:solidFill>
                <a:latin typeface="Calibri"/>
              </a:rPr>
              <a:t>[ Waterfall chart: FY25 ARR → +Enterprise → +Existing expansion → −SMB churn → FY27 ARR 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577840"/>
            <a:ext cx="1127729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555555"/>
                </a:solidFill>
                <a:latin typeface="Calibri"/>
              </a:rPr>
              <a:t>Net new ARR of +$26M, plus $14M annual cost savings from SMB sunset, for a total $40M EBITDA improvement.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1036289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88888"/>
                </a:solidFill>
                <a:latin typeface="Calibri"/>
              </a:rPr>
              <a:t>Source: Strategy team financial model, March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20095" y="640080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888888"/>
                </a:solidFill>
                <a:latin typeface="Calibri"/>
              </a:rPr>
              <a:t>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00800"/>
            <a:ext cx="1127729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00" b="0">
                <a:solidFill>
                  <a:srgbClr val="888888"/>
                </a:solidFill>
                <a:latin typeface="Calibri"/>
              </a:rPr>
              <a:t>Confidential — Acme internal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>
                <a:solidFill>
                  <a:srgbClr val="003A70"/>
                </a:solidFill>
                <a:latin typeface="Calibri"/>
              </a:rPr>
              <a:t>Implementation in three phases over 18 months, with the SMB sunset starting in Q2 2026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645920"/>
            <a:ext cx="3667658" cy="548640"/>
          </a:xfrm>
          <a:prstGeom prst="rect">
            <a:avLst/>
          </a:prstGeom>
          <a:solidFill>
            <a:srgbClr val="003A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3667658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Q2 2026 — Foundation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2194560"/>
            <a:ext cx="3667658" cy="310896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2331720"/>
            <a:ext cx="3393338" cy="2880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100">
                <a:solidFill>
                  <a:srgbClr val="333333"/>
                </a:solidFill>
              </a:rPr>
              <a:t>•  SSO &amp; SCIM in beta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333333"/>
                </a:solidFill>
              </a:rPr>
              <a:t>•  Begin SMB sunset comms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333333"/>
                </a:solidFill>
              </a:rPr>
              <a:t>•  Enterprise sales hires (3)</a:t>
            </a:r>
          </a:p>
        </p:txBody>
      </p:sp>
      <p:sp>
        <p:nvSpPr>
          <p:cNvPr id="7" name="Rectangle 6"/>
          <p:cNvSpPr/>
          <p:nvPr/>
        </p:nvSpPr>
        <p:spPr>
          <a:xfrm>
            <a:off x="4262018" y="1645920"/>
            <a:ext cx="3667658" cy="548640"/>
          </a:xfrm>
          <a:prstGeom prst="rect">
            <a:avLst/>
          </a:prstGeom>
          <a:solidFill>
            <a:srgbClr val="003A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62018" y="1645920"/>
            <a:ext cx="3667658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Q3–Q4 2026 — Build</a:t>
            </a:r>
          </a:p>
        </p:txBody>
      </p:sp>
      <p:sp>
        <p:nvSpPr>
          <p:cNvPr id="9" name="Rectangle 8"/>
          <p:cNvSpPr/>
          <p:nvPr/>
        </p:nvSpPr>
        <p:spPr>
          <a:xfrm>
            <a:off x="4262018" y="2194560"/>
            <a:ext cx="3667658" cy="310896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99178" y="2331720"/>
            <a:ext cx="3393338" cy="2880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100">
                <a:solidFill>
                  <a:srgbClr val="333333"/>
                </a:solidFill>
              </a:rPr>
              <a:t>•  Audit logs GA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333333"/>
                </a:solidFill>
              </a:rPr>
              <a:t>•  Multi-entity GA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333333"/>
                </a:solidFill>
              </a:rPr>
              <a:t>•  First 5 enterprise wins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333333"/>
                </a:solidFill>
              </a:rPr>
              <a:t>•  SMB tier off price list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66836" y="1645920"/>
            <a:ext cx="3667658" cy="548640"/>
          </a:xfrm>
          <a:prstGeom prst="rect">
            <a:avLst/>
          </a:prstGeom>
          <a:solidFill>
            <a:srgbClr val="003A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66836" y="1645920"/>
            <a:ext cx="3667658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H1 2027 — Scale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066836" y="2194560"/>
            <a:ext cx="3667658" cy="310896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03996" y="2331720"/>
            <a:ext cx="3393338" cy="2880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100">
                <a:solidFill>
                  <a:srgbClr val="333333"/>
                </a:solidFill>
              </a:rPr>
              <a:t>•  API platform GA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333333"/>
                </a:solidFill>
              </a:rPr>
              <a:t>•  20 enterprise wins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333333"/>
                </a:solidFill>
              </a:rPr>
              <a:t>•  SMB sunset complete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400800"/>
            <a:ext cx="1036289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88888"/>
                </a:solidFill>
                <a:latin typeface="Calibri"/>
              </a:rPr>
              <a:t>Source: Implementation plan, March 2026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820095" y="640080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888888"/>
                </a:solidFill>
                <a:latin typeface="Calibri"/>
              </a:rPr>
              <a:t>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6400800"/>
            <a:ext cx="1127729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00" b="0">
                <a:solidFill>
                  <a:srgbClr val="888888"/>
                </a:solidFill>
                <a:latin typeface="Calibri"/>
              </a:rPr>
              <a:t>Confidential — Acme internal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971800"/>
            <a:ext cx="10362895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200" b="1">
                <a:solidFill>
                  <a:srgbClr val="003A70"/>
                </a:solidFill>
                <a:latin typeface="Calibri"/>
              </a:rPr>
              <a:t>Appendix</a:t>
            </a:r>
          </a:p>
        </p:txBody>
      </p:sp>
      <p:sp>
        <p:nvSpPr>
          <p:cNvPr id="3" name="Rectangle 2"/>
          <p:cNvSpPr/>
          <p:nvPr/>
        </p:nvSpPr>
        <p:spPr>
          <a:xfrm>
            <a:off x="5181447" y="3886200"/>
            <a:ext cx="1828800" cy="45720"/>
          </a:xfrm>
          <a:prstGeom prst="rect">
            <a:avLst/>
          </a:prstGeom>
          <a:solidFill>
            <a:srgbClr val="003A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>
                <a:solidFill>
                  <a:srgbClr val="003A70"/>
                </a:solidFill>
                <a:latin typeface="Calibri"/>
              </a:rPr>
              <a:t>Key risks and mitigations span three categories: sales cycle, customer churn, and competitive response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127729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600">
                <a:solidFill>
                  <a:srgbClr val="333333"/>
                </a:solidFill>
                <a:latin typeface="Calibri"/>
              </a:rPr>
              <a:t>•  Enterprise sales cycle (6–9 months): mitigated by leveraging existing top-30 accounts as anchor customers</a:t>
            </a:r>
          </a:p>
          <a:p>
            <a:pPr algn="l">
              <a:spcAft>
                <a:spcPts val="800"/>
              </a:spcAft>
            </a:pPr>
            <a:r>
              <a:rPr sz="1600">
                <a:solidFill>
                  <a:srgbClr val="333333"/>
                </a:solidFill>
                <a:latin typeface="Calibri"/>
              </a:rPr>
              <a:t>•  SMB churn during sunset: mitigated by 18-month transition period and partner referral program</a:t>
            </a:r>
          </a:p>
          <a:p>
            <a:pPr algn="l">
              <a:spcAft>
                <a:spcPts val="800"/>
              </a:spcAft>
            </a:pPr>
            <a:r>
              <a:rPr sz="1600">
                <a:solidFill>
                  <a:srgbClr val="333333"/>
                </a:solidFill>
                <a:latin typeface="Calibri"/>
              </a:rPr>
              <a:t>•  Competitive response: mitigated by 9-month feature lead and existing customer relationships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0"/>
            <a:ext cx="1036289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88888"/>
                </a:solidFill>
                <a:latin typeface="Calibri"/>
              </a:rPr>
              <a:t>Source: Risk review with executive team, March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20095" y="640080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888888"/>
                </a:solidFill>
                <a:latin typeface="Calibri"/>
              </a:rPr>
              <a:t>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1127729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00" b="0">
                <a:solidFill>
                  <a:srgbClr val="888888"/>
                </a:solidFill>
                <a:latin typeface="Calibri"/>
              </a:rPr>
              <a:t>Confidential — Acme internal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